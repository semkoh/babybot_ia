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731520"/>
            <a:ext cx="2743200" cy="2743200"/>
          </a:xfrm>
          <a:prstGeom prst="ellipse">
            <a:avLst/>
          </a:prstGeom>
          <a:solidFill>
            <a:srgbClr val="C4B5FD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914400"/>
            <a:ext cx="3200400" cy="3200400"/>
          </a:xfrm>
          <a:prstGeom prst="ellipse">
            <a:avLst/>
          </a:prstGeom>
          <a:solidFill>
            <a:srgbClr val="FFE4E6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657600" y="3200400"/>
            <a:ext cx="2286000" cy="2286000"/>
          </a:xfrm>
          <a:prstGeom prst="ellipse">
            <a:avLst/>
          </a:prstGeom>
          <a:solidFill>
            <a:srgbClr val="A7F3D0">
              <a:alpha val="3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548640"/>
            <a:ext cx="1371600" cy="1371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011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6D28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BabyBot IA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914400" y="28346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Artificielle d'Analyse des Pleurs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3200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Assistant Parental Intelligent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4988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Soutenance de Projet — 15 minutes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Hexagonale · LLM Finetuning · MFCC · RAG · Multi-profils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BAE6FD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D28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Sommaire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78638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371600"/>
            <a:ext cx="685800" cy="685800"/>
          </a:xfrm>
          <a:prstGeom prst="ellipse">
            <a:avLst/>
          </a:prstGeom>
          <a:solidFill>
            <a:srgbClr val="FB7185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71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71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1435608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423160" y="134416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Problématique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2423160" y="1737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 projet ? Utilité réelle pour les parents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2423160"/>
            <a:ext cx="78638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22960" y="2560320"/>
            <a:ext cx="685800" cy="685800"/>
          </a:xfrm>
          <a:prstGeom prst="ellipse">
            <a:avLst/>
          </a:prstGeom>
          <a:solidFill>
            <a:srgbClr val="6D28D9">
              <a:alpha val="2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25603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D28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2624328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423160" y="253288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Technologie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2423160" y="2926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Hexagonale · LLM · Finetuning · Pipeline MFCC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40080" y="3611880"/>
            <a:ext cx="78638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2960" y="3749040"/>
            <a:ext cx="685800" cy="685800"/>
          </a:xfrm>
          <a:prstGeom prst="ellipse">
            <a:avLst/>
          </a:prstGeom>
          <a:solidFill>
            <a:srgbClr val="4ADE80">
              <a:alpha val="20000"/>
            </a:srgbClr>
          </a:solidFill>
          <a:ln/>
        </p:spPr>
      </p:sp>
      <p:sp>
        <p:nvSpPr>
          <p:cNvPr id="18" name="Text 14"/>
          <p:cNvSpPr/>
          <p:nvPr/>
        </p:nvSpPr>
        <p:spPr>
          <a:xfrm>
            <a:off x="822960" y="37490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3813048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423160" y="372160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2423160" y="4114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multi-profils · Analyse audio · Feedbacks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657600"/>
            <a:ext cx="2743200" cy="2743200"/>
          </a:xfrm>
          <a:prstGeom prst="ellipse">
            <a:avLst/>
          </a:prstGeom>
          <a:solidFill>
            <a:srgbClr val="FECDD3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B71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3000" y="2286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Contexte &amp; Problématique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143000"/>
            <a:ext cx="457200" cy="457200"/>
          </a:xfrm>
          <a:prstGeom prst="ellipse">
            <a:avLst/>
          </a:prstGeom>
          <a:solidFill>
            <a:srgbClr val="FB7185">
              <a:alpha val="3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1704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2-3h de pleurs / jour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</a:rPr>
              <a:t>en moyenne pour un nouveau-né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Parents épuisés, surtout la nuit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</a:rPr>
              <a:t>ne comprennent pas pourquoi bébé pleure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Manque d'info fiable &amp; immédiate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</a:rPr>
              <a:t>santé, sommeil, alimentation, développement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Baby blues : 50-80% des mères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</a:rPr>
              <a:t>stress parental sous-estimé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37760" y="1143000"/>
            <a:ext cx="457200" cy="457200"/>
          </a:xfrm>
          <a:prstGeom prst="ellipse">
            <a:avLst/>
          </a:prstGeom>
          <a:solidFill>
            <a:srgbClr val="10B981">
              <a:alpha val="3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486400" y="11704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Solution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169164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Analyse automatique des pleurs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</a:rPr>
              <a:t>Faim · Douleur · Fatigue · Peur · Inconfort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Chatbot parental intelligent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</a:rPr>
              <a:t>Réponses contextuelles, jamais génériques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Multi-profils enfants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</a:rPr>
              <a:t>Un profil par enfant, conseils adaptés à l'âge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Apprentissage continu par les parents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</a:rPr>
              <a:t>👍/👎 → LoRA finetuning → l'IA s'améliore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434840"/>
            <a:ext cx="8229600" cy="548640"/>
          </a:xfrm>
          <a:prstGeom prst="rect">
            <a:avLst/>
          </a:prstGeom>
          <a:solidFill>
            <a:srgbClr val="6D28D9">
              <a:alpha val="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MFCC audio · SVM/Random Forest · Mistral-7B LLM · LoRA finetuning · ChromaDB RAG · Claude API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D28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228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Hexagonale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834640" y="914400"/>
            <a:ext cx="3474720" cy="2834640"/>
          </a:xfrm>
          <a:prstGeom prst="rect">
            <a:avLst/>
          </a:prstGeom>
          <a:solidFill>
            <a:srgbClr val="6D28D9">
              <a:alpha val="8000"/>
            </a:srgbClr>
          </a:solidFill>
          <a:ln w="25400">
            <a:solidFill>
              <a:srgbClr val="6D28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834640" y="960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 MÉTIER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926080" y="128016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Entités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</a:rPr>
              <a:t>AudioSample · CryPrediction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</a:rPr>
              <a:t>ChatMessage · Feedback · Parent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Use Cases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</a:rPr>
              <a:t>AnalyzeCry · AskChatbot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</a:rPr>
              <a:t>SubmitFeedback · FinetuneModel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Objets Valeur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</a:rPr>
              <a:t>MFCCFeatures · CryType · FeedbackType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7315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 D'ENTRÉE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219456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10789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3716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468880" y="1344168"/>
            <a:ext cx="36576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874520"/>
            <a:ext cx="219456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19476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22402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468880" y="2212848"/>
            <a:ext cx="365760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743200"/>
            <a:ext cx="219456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28163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Audio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31089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navigateur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468880" y="3081528"/>
            <a:ext cx="365760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7315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 DE SORTIE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675120" y="914400"/>
            <a:ext cx="219456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766560" y="9601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Mistral-7B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66560" y="12344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LoRA Adapter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309360" y="1207008"/>
            <a:ext cx="36576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75120" y="1691640"/>
            <a:ext cx="219456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766560" y="17373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Classificateur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66560" y="20116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+ Random Forest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309360" y="1984248"/>
            <a:ext cx="365760" cy="0"/>
          </a:xfrm>
          <a:prstGeom prst="line">
            <a:avLst/>
          </a:prstGeom>
          <a:noFill/>
          <a:ln w="19050">
            <a:solidFill>
              <a:srgbClr val="FB718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75120" y="2468880"/>
            <a:ext cx="219456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6D28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766560" y="25146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66560" y="27889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+ RAG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309360" y="2761488"/>
            <a:ext cx="365760" cy="0"/>
          </a:xfrm>
          <a:prstGeom prst="line">
            <a:avLst/>
          </a:prstGeom>
          <a:noFill/>
          <a:ln w="19050">
            <a:solidFill>
              <a:srgbClr val="6D28D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675120" y="3246120"/>
            <a:ext cx="219456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766560" y="32918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766560" y="35661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SQLAlchemy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309360" y="3538728"/>
            <a:ext cx="365760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3977640"/>
            <a:ext cx="82296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48640" y="400507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Pipeline d'Apprentissage Continu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0080" y="4370832"/>
            <a:ext cx="1554480" cy="502920"/>
          </a:xfrm>
          <a:prstGeom prst="rect">
            <a:avLst/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43708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👍👎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194560" y="4407408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8716C"/>
                </a:solidFill>
              </a:rPr>
              <a:t>→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2377440" y="4370832"/>
            <a:ext cx="1554480" cy="502920"/>
          </a:xfrm>
          <a:prstGeom prst="rect">
            <a:avLst/>
          </a:prstGeom>
          <a:solidFill>
            <a:srgbClr val="6D28D9">
              <a:alpha val="15000"/>
            </a:srgbClr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377440" y="43708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931920" y="4407408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8716C"/>
                </a:solidFill>
              </a:rPr>
              <a:t>→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114800" y="4370832"/>
            <a:ext cx="1554480" cy="502920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14800" y="43708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669280" y="4407408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8716C"/>
                </a:solidFill>
              </a:rPr>
              <a:t>→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5852160" y="4370832"/>
            <a:ext cx="1554480" cy="502920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852160" y="43708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Deploy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C4B5FD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228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&amp; Base de Connaissances (RAG)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39319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0584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051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Mistral-7B-Instruct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146304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7 milliards de paramètres, open-source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Optimisé dialogue français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</a:rPr>
              <a:t>Format : [INST] question [/INST] réponse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</a:rPr>
              <a:t>Float16 + device_map auto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</a:rPr>
              <a:t>LoRA adapter intégré si disponible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914400"/>
            <a:ext cx="39319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005840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94960" y="1051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— ChromaDB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937760" y="146304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Base vectorielle persistante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Sentence-Transformers (all-MiniLM-L6)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</a:rPr>
              <a:t>Recherche sémantique cosine similarity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</a:rPr>
              <a:t>Catégories : santé, sommeil, alimentation,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</a:rPr>
              <a:t>éducation, développement, bien-être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57200" y="329184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548640" y="3337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Question → Réponse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40080" y="3749040"/>
            <a:ext cx="1371600" cy="731520"/>
          </a:xfrm>
          <a:prstGeom prst="rect">
            <a:avLst/>
          </a:prstGeom>
          <a:solidFill>
            <a:srgbClr val="3B82F6">
              <a:alpha val="15000"/>
            </a:srgbClr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40080" y="37947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2011680" y="38404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8716C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2286000" y="3749040"/>
            <a:ext cx="1371600" cy="731520"/>
          </a:xfrm>
          <a:prstGeom prst="rect">
            <a:avLst/>
          </a:prstGeom>
          <a:solidFill>
            <a:srgbClr val="6D28D9">
              <a:alpha val="15000"/>
            </a:srgbClr>
          </a:solidFill>
          <a:ln w="19050">
            <a:solidFill>
              <a:srgbClr val="6D28D9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286000" y="37947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3657600" y="38404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8716C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3931920" y="3749040"/>
            <a:ext cx="1371600" cy="731520"/>
          </a:xfrm>
          <a:prstGeom prst="rect">
            <a:avLst/>
          </a:prstGeom>
          <a:solidFill>
            <a:srgbClr val="06B6D4">
              <a:alpha val="15000"/>
            </a:srgbClr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931920" y="37947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5303520" y="38404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8716C"/>
                </a:solidFill>
              </a:rPr>
              <a:t>→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5577840" y="3749040"/>
            <a:ext cx="1371600" cy="731520"/>
          </a:xfrm>
          <a:prstGeom prst="rect">
            <a:avLst/>
          </a:prstGeom>
          <a:solidFill>
            <a:srgbClr val="F59E0B">
              <a:alpha val="15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577840" y="37947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contexte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6949440" y="38404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8716C"/>
                </a:solidFill>
              </a:rPr>
              <a:t>→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7223760" y="3749040"/>
            <a:ext cx="1371600" cy="731520"/>
          </a:xfrm>
          <a:prstGeom prst="rect">
            <a:avLst/>
          </a:prstGeom>
          <a:solidFill>
            <a:srgbClr val="10B981">
              <a:alpha val="15000"/>
            </a:srgbClr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223760" y="37947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71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02b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88720" y="228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Finetuning — Apprentissage Continu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05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Configuration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Rang (r) = 16 · Alpha (α) = 32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Dropout = 0.05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</a:rPr>
              <a:t>Cibles : q_proj, k_proj, v_proj, o_proj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</a:rPr>
              <a:t>Learning rate : 2e-5 · 3 epochs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&lt; 1% des paramètres entraînés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005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 — Direct Preference Optimization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37760" y="137160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Réponses 👍 → exemples positifs (chosen)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Réponses 👎 → exemples négatifs (rejected)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</a:rPr>
              <a:t>Paires de préférences par question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</a:rPr>
              <a:t>Seuil : 100 feedbacks → auto-trigger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Apprentissage guidé par les parents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3246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d'Apprentissage Continu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639312"/>
            <a:ext cx="1737360" cy="1005840"/>
          </a:xfrm>
          <a:prstGeom prst="rect">
            <a:avLst/>
          </a:prstGeom>
          <a:solidFill>
            <a:srgbClr val="3B82F6">
              <a:alpha val="15000"/>
            </a:srgbClr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63931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206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👍 positifs · 👎 négatifs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377440" y="37947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8716C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606040" y="3639312"/>
            <a:ext cx="1737360" cy="1005840"/>
          </a:xfrm>
          <a:prstGeom prst="rect">
            <a:avLst/>
          </a:prstGeom>
          <a:solidFill>
            <a:srgbClr val="6D28D9">
              <a:alpha val="15000"/>
            </a:srgbClr>
          </a:solidFill>
          <a:ln w="19050">
            <a:solidFill>
              <a:srgbClr val="6D28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06040" y="363931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06040" y="4206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Paires DPO triées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343400" y="37947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8716C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572000" y="3639312"/>
            <a:ext cx="1737360" cy="1005840"/>
          </a:xfrm>
          <a:prstGeom prst="rect">
            <a:avLst/>
          </a:prstGeom>
          <a:solidFill>
            <a:srgbClr val="F59E0B">
              <a:alpha val="15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363931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0" y="4206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Finetuning efficient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309360" y="37947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8716C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537960" y="3639312"/>
            <a:ext cx="2011680" cy="1005840"/>
          </a:xfrm>
          <a:prstGeom prst="rect">
            <a:avLst/>
          </a:prstGeom>
          <a:solidFill>
            <a:srgbClr val="10B981">
              <a:alpha val="15000"/>
            </a:srgbClr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363931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Déploiement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37960" y="4206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adapter → prod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286000" cy="2286000"/>
          </a:xfrm>
          <a:prstGeom prst="ellipse">
            <a:avLst/>
          </a:prstGeom>
          <a:solidFill>
            <a:srgbClr val="A7F3D0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02c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228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Audio — Classification MFCC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39319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0584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024128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MFCC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141732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40 coefficients MFCC (Mel-Frequency)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Delta MFCC (vitesse de variation)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Delta-Delta (accélération)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Écart-type par coefficient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200" b="1" dirty="0">
                <a:solidFill>
                  <a:srgbClr val="6D28D9"/>
                </a:solidFill>
              </a:rPr>
              <a:t>→ Vecteur final : 160 features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</a:rPr>
              <a:t>Librosa : SR=22050, FFT=2048, hop=512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914400"/>
            <a:ext cx="39319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005840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49240" y="1024128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Classificateur Ensemble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937760" y="141732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SVM (RBF kernel, C=10)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Random Forest (200 arbres)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Voting Classifier (soft, 40/60)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5 classes :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</a:rPr>
              <a:t>🍼 Faim · 😢 Douleur · 😴 Fatigue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</a:rPr>
              <a:t>😨 Peur · 😣 Inconfort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</a:rPr>
              <a:t>Dataset : Donate-a-Cry Corpus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57200" y="352044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548640" y="35661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: Son → Action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3931920"/>
            <a:ext cx="1097280" cy="548640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48640" y="39319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écoute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645920" y="3959352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8716C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1828800" y="3931920"/>
            <a:ext cx="1097280" cy="548640"/>
          </a:xfrm>
          <a:prstGeom prst="rect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1828800" y="39319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2926080" y="3959352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8716C"/>
                </a:solidFill>
              </a:rPr>
              <a:t>→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3108960" y="3931920"/>
            <a:ext cx="1097280" cy="548640"/>
          </a:xfrm>
          <a:prstGeom prst="rect">
            <a:avLst/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108960" y="39319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MFCC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4206240" y="3959352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8716C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4389120" y="3931920"/>
            <a:ext cx="1097280" cy="548640"/>
          </a:xfrm>
          <a:prstGeom prst="rect">
            <a:avLst/>
          </a:prstGeom>
          <a:solidFill>
            <a:srgbClr val="FB7185">
              <a:alpha val="15000"/>
            </a:srgbClr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389120" y="39319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SVM+RF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5486400" y="3959352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8716C"/>
                </a:solidFill>
              </a:rPr>
              <a:t>→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5669280" y="3931920"/>
            <a:ext cx="1097280" cy="548640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669280" y="39319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Conseil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6766560" y="3959352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8716C"/>
                </a:solidFill>
              </a:rPr>
              <a:t>→</a:t>
            </a:r>
            <a:endParaRPr lang="en-US" sz="1400" dirty="0"/>
          </a:p>
        </p:txBody>
      </p:sp>
      <p:sp>
        <p:nvSpPr>
          <p:cNvPr id="30" name="Shape 26"/>
          <p:cNvSpPr/>
          <p:nvPr/>
        </p:nvSpPr>
        <p:spPr>
          <a:xfrm>
            <a:off x="6949440" y="3931920"/>
            <a:ext cx="1097280" cy="548640"/>
          </a:xfrm>
          <a:prstGeom prst="rect">
            <a:avLst/>
          </a:prstGeom>
          <a:solidFill>
            <a:srgbClr val="6D28D9">
              <a:alpha val="15000"/>
            </a:srgbClr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949440" y="39319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228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Démonstration — Interface BabyBot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645920" y="868680"/>
            <a:ext cx="5852160" cy="3931920"/>
          </a:xfrm>
          <a:prstGeom prst="rect">
            <a:avLst/>
          </a:prstGeom>
          <a:solidFill>
            <a:srgbClr val="0A0F1E"/>
          </a:solidFill>
          <a:ln w="12700">
            <a:solidFill>
              <a:srgbClr val="78716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45920" y="868680"/>
            <a:ext cx="5852160" cy="45720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6" name="Text 4"/>
          <p:cNvSpPr/>
          <p:nvPr/>
        </p:nvSpPr>
        <p:spPr>
          <a:xfrm>
            <a:off x="1737360" y="886968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👶 BabyBot — Emma, 4 mois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9120" y="1463040"/>
            <a:ext cx="2926080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34840" y="14630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bébé pleure beaucoup la nuit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28800" y="2057400"/>
            <a:ext cx="4114800" cy="1645920"/>
          </a:xfrm>
          <a:prstGeom prst="rect">
            <a:avLst/>
          </a:prstGeom>
          <a:solidFill>
            <a:srgbClr val="141C2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0240" y="2103120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Les pleurs nocturnes à 4 mois sont très fréquents.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À cet âge, Emma traverse une phase de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régression du sommeil. Voici ce que vous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pouvez essayer :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1. Routine du coucher (bain → histoire → berceuse)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2. Température : 18-20°C dans la chambre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3. Vérifiez faim, couche, confort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Vous voulez que je détaille la régression ? 😊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28800" y="3749040"/>
            <a:ext cx="548640" cy="320040"/>
          </a:xfrm>
          <a:prstGeom prst="rect">
            <a:avLst/>
          </a:prstGeom>
          <a:solidFill>
            <a:srgbClr val="00000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0" y="3749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👍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468880" y="3749040"/>
            <a:ext cx="548640" cy="320040"/>
          </a:xfrm>
          <a:prstGeom prst="rect">
            <a:avLst/>
          </a:prstGeom>
          <a:solidFill>
            <a:srgbClr val="0A0F1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3749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👎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645920" y="4251960"/>
            <a:ext cx="5852160" cy="502920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16" name="Text 14"/>
          <p:cNvSpPr/>
          <p:nvPr/>
        </p:nvSpPr>
        <p:spPr>
          <a:xfrm>
            <a:off x="1828800" y="427939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Posez votre question...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645920" y="4846320"/>
            <a:ext cx="585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personnalisée pour Emma (4 mois) — pas de réponse générique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C4B5FD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FFE4E6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200400" y="3657600"/>
            <a:ext cx="2743200" cy="2743200"/>
          </a:xfrm>
          <a:prstGeom prst="ellipse">
            <a:avLst/>
          </a:prstGeom>
          <a:solidFill>
            <a:srgbClr val="A7F3D0">
              <a:alpha val="35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365760"/>
            <a:ext cx="1371600" cy="1371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7830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6D28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Merci !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914400" y="2468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BabyBot IA — L'IA qui comprend votre bébé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7200" y="3017520"/>
            <a:ext cx="192024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15468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7200" y="3703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pleurs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57200" y="4114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MFCC + SVM/RF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2606040" y="3017520"/>
            <a:ext cx="192024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315468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606040" y="3703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2606040" y="4114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Mistral-7B + RAG</a:t>
            </a:r>
            <a:endParaRPr lang="en-US" sz="800" dirty="0"/>
          </a:p>
        </p:txBody>
      </p:sp>
      <p:sp>
        <p:nvSpPr>
          <p:cNvPr id="16" name="Shape 11"/>
          <p:cNvSpPr/>
          <p:nvPr/>
        </p:nvSpPr>
        <p:spPr>
          <a:xfrm>
            <a:off x="4754880" y="3017520"/>
            <a:ext cx="192024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3154680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754880" y="3703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Apprentissage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4754880" y="4114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+ DPO</a:t>
            </a:r>
            <a:endParaRPr lang="en-US" sz="800" dirty="0"/>
          </a:p>
        </p:txBody>
      </p:sp>
      <p:sp>
        <p:nvSpPr>
          <p:cNvPr id="20" name="Shape 14"/>
          <p:cNvSpPr/>
          <p:nvPr/>
        </p:nvSpPr>
        <p:spPr>
          <a:xfrm>
            <a:off x="6903720" y="3017520"/>
            <a:ext cx="192024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0" y="3154680"/>
            <a:ext cx="502920" cy="5029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903720" y="3703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Multi-profils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enfants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6903720" y="4114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Persistant cross-device</a:t>
            </a:r>
            <a:endParaRPr lang="en-US" sz="800" dirty="0"/>
          </a:p>
        </p:txBody>
      </p:sp>
      <p:sp>
        <p:nvSpPr>
          <p:cNvPr id="24" name="Text 17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D28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BabyBot IA — Soutenance</dc:title>
  <dc:subject>PptxGenJS Presentation</dc:subject>
  <dc:creator>BabyBot IA Team</dc:creator>
  <cp:lastModifiedBy>BabyBot IA Team</cp:lastModifiedBy>
  <cp:revision>1</cp:revision>
  <dcterms:created xsi:type="dcterms:W3CDTF">2026-03-12T15:16:14Z</dcterms:created>
  <dcterms:modified xsi:type="dcterms:W3CDTF">2026-03-12T15:16:14Z</dcterms:modified>
</cp:coreProperties>
</file>